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406301"/>
            <a:ext cx="399671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全球洗衣机能效标准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01" y="1079302"/>
            <a:ext cx="39967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Energy Efficiency Standards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6301" y="1393627"/>
            <a:ext cx="39967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家用洗衣机 | Household Washing Machines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301" y="1755577"/>
            <a:ext cx="39967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 | 公开来源汇总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101" y="330101"/>
            <a:ext cx="478108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方法与范围 | Scope &amp; Method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30101" y="822127"/>
            <a:ext cx="4687342" cy="96023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优先官方法规/标准网站；无法获取的条款标注“需核对”。</a:t>
            </a:r>
            <a:endParaRPr lang="en-US" sz="1400" dirty="0"/>
          </a:p>
          <a:p>
            <a:pPr algn="l" marL="127000" indent="-1270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结构：能效标准 / 测试方法 / 判定指标 / 抽检规则。</a:t>
            </a:r>
            <a:endParaRPr lang="en-US" sz="1400" dirty="0"/>
          </a:p>
          <a:p>
            <a:pPr algn="l" marL="127000" indent="-1270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等级阈值以法规附录为准（本稿给出编号与适用范围）。</a:t>
            </a:r>
            <a:endParaRPr lang="en-US" sz="1400" dirty="0"/>
          </a:p>
          <a:p>
            <a:pPr algn="l" marL="127000" indent="-1270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中英双语，尽量覆盖主要国家/地区 + IEC 参考。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495035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国际参考 | IEC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04800" y="796826"/>
            <a:ext cx="4853285" cy="96023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60456:2024</a:t>
            </a:r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家用洗衣机性能测试方法</a:t>
            </a:r>
            <a:endParaRPr lang="en-US" sz="1400" dirty="0"/>
          </a:p>
          <a:p>
            <a:pPr algn="l" marL="127000" indent="-1270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适用：家用洗衣机/洗干一体（洗涤部分）/脱水机</a:t>
            </a:r>
            <a:endParaRPr lang="en-US" sz="1400" dirty="0"/>
          </a:p>
          <a:p>
            <a:pPr algn="l" marL="127000" indent="-1270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不含商用洗衣机；噪声测试见 IEC 60704 系列</a:t>
            </a:r>
            <a:endParaRPr lang="en-US" sz="1400" dirty="0"/>
          </a:p>
          <a:p>
            <a:pPr algn="l" marL="127000" indent="-1270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相关：IEC 62512（洗干一体性能）、IEC 61121（干衣机）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04800" y="1896666"/>
            <a:ext cx="49503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IEC Webstore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762408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 | China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9350" y="847576"/>
            <a:ext cx="37343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能效标准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9350" y="1145977"/>
            <a:ext cx="3661172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 12021.4-2013（能效/水效限定值与等级）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50" y="1453158"/>
            <a:ext cx="37343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9350" y="1751558"/>
            <a:ext cx="3661172" cy="41136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GB/T 4288-2025（家用和类似用途电动洗衣机，2026-05实施）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92922" y="847576"/>
            <a:ext cx="373424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判定指标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92922" y="1145977"/>
            <a:ext cx="3661023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能效等级与限值见 GB 12021.4 附录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92922" y="1453158"/>
            <a:ext cx="373424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抽检规则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92922" y="1751558"/>
            <a:ext cx="3661023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市场监管部门监督抽查（细则需核对）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9350" y="2289870"/>
            <a:ext cx="76240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SAMR Open Standards (GB/T 4288-2025, GB 12021.4-2013)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510519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欧盟 | EU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9350" y="847576"/>
            <a:ext cx="24748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能效法规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9350" y="1145977"/>
            <a:ext cx="2426345" cy="61704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(EU) 2019/2014 能效标签</a:t>
            </a:r>
            <a:endParaRPr lang="en-US" sz="1200" dirty="0"/>
          </a:p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(EU) 2019/2023 生态设计/MEPS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50" y="1864519"/>
            <a:ext cx="24748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9350" y="2162919"/>
            <a:ext cx="2426345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EN/IEC 60456（协调标准）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58095" y="847576"/>
            <a:ext cx="24748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判定指标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58095" y="1145977"/>
            <a:ext cx="2426345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能效等级 A–G（法规附录）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58095" y="1453158"/>
            <a:ext cx="24748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抽检规则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58095" y="1751558"/>
            <a:ext cx="2426345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成员国市场监管机构执行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9350" y="2495550"/>
            <a:ext cx="51051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EC product page + EUR-Lex 2019/2014, 2019/2023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674680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 | USA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9350" y="847576"/>
            <a:ext cx="32956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能效标准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9350" y="1145977"/>
            <a:ext cx="3231059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 10 CFR Part 430 Subpart C（MEPS）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50" y="1453158"/>
            <a:ext cx="32956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9350" y="1751558"/>
            <a:ext cx="3231059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CFR Part 430 Subpart B, Appendix J2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62809" y="847576"/>
            <a:ext cx="32956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判定/标签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62809" y="1145977"/>
            <a:ext cx="3231059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EnergyGuide 标签（FTC 16 CFR Part 305）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62809" y="1453158"/>
            <a:ext cx="32956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抽检/执法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62809" y="1751558"/>
            <a:ext cx="3231059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 抽检与执法；FTC 监管标签合规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9350" y="2084189"/>
            <a:ext cx="67468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eCFR / govinfo / FTC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715121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澳大利亚/新西兰 | AU/NZ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9350" y="847576"/>
            <a:ext cx="34978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能效法规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9350" y="1145977"/>
            <a:ext cx="3429298" cy="41136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GEMS Determination 2024（Clothes Washing Machines）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50" y="1658838"/>
            <a:ext cx="34978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9350" y="1957239"/>
            <a:ext cx="3429298" cy="41136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AS/NZS 2040.1:2021（含 2025 修订）</a:t>
            </a:r>
            <a:endParaRPr lang="en-US" sz="1200" dirty="0"/>
          </a:p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AS/NZS 2040.2:2021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61048" y="847576"/>
            <a:ext cx="34978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判定指标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61048" y="1145977"/>
            <a:ext cx="3429298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星级能效标签 + MEPS（法规附表）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61048" y="1453158"/>
            <a:ext cx="34978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抽检/执法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61048" y="1751558"/>
            <a:ext cx="3429298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GEMS Regulator 监督抽检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9350" y="2495550"/>
            <a:ext cx="71512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Energy Rating + GEMS Determination 2024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614596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墨西哥 | Mexico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9350" y="847576"/>
            <a:ext cx="29952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能效标准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9350" y="1145977"/>
            <a:ext cx="2936528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NOM‑005‑ENER‑2016（MEPS + 标签）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50" y="1453158"/>
            <a:ext cx="29952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9350" y="1751558"/>
            <a:ext cx="2936528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标准内定义测试条件与指标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68278" y="847576"/>
            <a:ext cx="29952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判定指标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68278" y="1145977"/>
            <a:ext cx="2936528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能效等级/限值见 NOM‑005‑ENER‑2016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68278" y="1453158"/>
            <a:ext cx="29952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抽检规则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68278" y="1751558"/>
            <a:ext cx="2936528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监管机构抽检（需核对细则）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9350" y="2084189"/>
            <a:ext cx="61459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Mexico NOM‑005‑ENER‑2016 official page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709094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沙特 | Saudi Arabia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9350" y="847576"/>
            <a:ext cx="3467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能效体系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9350" y="1145977"/>
            <a:ext cx="3399830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SASO Energy Efficiency Card（能效标签许可）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50" y="1453158"/>
            <a:ext cx="3467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9350" y="1751558"/>
            <a:ext cx="3399830" cy="41136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SASO 2885（洗衣机能效/用水；需官方标准链接核对）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31580" y="847576"/>
            <a:ext cx="34676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判定指标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31580" y="1145977"/>
            <a:ext cx="3399681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MEPS 与等级见 SASO 标准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31580" y="1453158"/>
            <a:ext cx="34676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抽检规则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31580" y="1751558"/>
            <a:ext cx="3399681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SASO 监管与市场抽检（细则需核对）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9350" y="2289870"/>
            <a:ext cx="70909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SASO Energy Efficiency Card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628759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 | Japan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9350" y="847576"/>
            <a:ext cx="30661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能效体系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9350" y="1145977"/>
            <a:ext cx="3006030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Runner Program（节能目标）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50" y="1453158"/>
            <a:ext cx="30661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9350" y="1751558"/>
            <a:ext cx="3006030" cy="41136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JIS 洗衣机性能测试标准（编号需官方确认）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37781" y="847576"/>
            <a:ext cx="30659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判定指标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37781" y="1145977"/>
            <a:ext cx="3005882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目标年度与目标值见 Top Runner 规则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37781" y="1453158"/>
            <a:ext cx="30659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抽检规则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37781" y="1751558"/>
            <a:ext cx="3005882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经产省/相关机构监督（需核对）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9350" y="2289870"/>
            <a:ext cx="62875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ECCJ Top Runner program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67267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韩国 | Korea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9350" y="847576"/>
            <a:ext cx="3285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能效体系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9350" y="1145977"/>
            <a:ext cx="3221236" cy="41136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Efficiency Label &amp; Standards Program (EELSP)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50" y="1658838"/>
            <a:ext cx="3285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9350" y="1957239"/>
            <a:ext cx="3221236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 标准（需官方确认）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2986" y="847576"/>
            <a:ext cx="3285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判定指标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2986" y="1145977"/>
            <a:ext cx="3221236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等级/限值由 KEA 公布（需核对）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2986" y="1453158"/>
            <a:ext cx="3285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抽检规则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2986" y="1751558"/>
            <a:ext cx="3221236" cy="20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2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 监督与抽检（细则需核对）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9350" y="2289870"/>
            <a:ext cx="6726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KEA (link pending)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783767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28600" y="600075"/>
            <a:ext cx="7837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60456:2024 — https://webstore.iec.ch/en/publication/70049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798612"/>
            <a:ext cx="7837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2019/2014 — https://eur-lex.europa.eu/eli/reg_del/2019/2014/oj/eng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28600" y="997148"/>
            <a:ext cx="7837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2019/2023 — https://eur-lex.europa.eu/eli/reg/2019/2023/oj/eng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" y="1195685"/>
            <a:ext cx="7837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product page — https://energy-efficient-products.ec.europa.eu/product-list/washing-machines_en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" y="1394222"/>
            <a:ext cx="7837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DOE 10 CFR 430 — https://www.ecfr.gov/current/title-10/chapter-II/subchapter-D/part-430/subpart-C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" y="1592759"/>
            <a:ext cx="7837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Test Appendix J2 — https://www.govinfo.gov/app/details/CFR-2024-title10-vol3/CFR-2024-title10-vol3-part430-subpartB-appJ2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" y="1791295"/>
            <a:ext cx="7837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FTC EnergyGuide — https://www.ecfr.gov/current/title-16/chapter-I/subchapter-C/part-305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" y="1989832"/>
            <a:ext cx="7837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Energy Rating — https://www.energyrating.gov.au/industry-information/products/clothes-washing-machines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8600" y="2188369"/>
            <a:ext cx="7837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GEMS Determination — https://www.legislation.gov.au/F2024L01266/asmade/2024-10-04/text/original/pdf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" y="2386905"/>
            <a:ext cx="7837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NOM‑005‑ENER‑2016 — https://platiica.economia.gob.mx/normalizacion/nom-005-ener-2016/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" y="2585442"/>
            <a:ext cx="7837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GB/T 4288‑2025 — https://openstd.samr.gov.cn/bzgk/std/newGbInfo?hcno=A6DD817E54CC5A9C5D231F1480876CAD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" y="2783979"/>
            <a:ext cx="7837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GB 12021.4‑2013 — https://openstd.samr.gov.cn/bzgk/gb/newGbInfo?hcno=F90B89DADC888F069B9993659D39BD4F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8600" y="2982516"/>
            <a:ext cx="7837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SASO Energy Card — https://www.saso.gov.sa/en/sectors/certificates/efficiency_card/Pages/default.aspx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8600" y="3181052"/>
            <a:ext cx="7837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Japan/Korea/Saudi standard documents pending official links.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2026-03-08T01:42:02Z</dcterms:created>
  <dcterms:modified xsi:type="dcterms:W3CDTF">2026-03-08T01:42:02Z</dcterms:modified>
</cp:coreProperties>
</file>